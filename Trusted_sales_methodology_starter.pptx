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B886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Earn the right</c:v>
                  </c:pt>
                  <c:pt idx="1">
                    <c:v>Find the gap</c:v>
                  </c:pt>
                  <c:pt idx="2">
                    <c:v>Teach</c:v>
                  </c:pt>
                  <c:pt idx="3">
                    <c:v>Make change safe</c:v>
                  </c:pt>
                  <c:pt idx="4">
                    <c:v>Keep your word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9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title only. "Trusted" is a placeholder name to react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matters. Experience leads, methods give shape, tips fill in the detail. Not the other way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Pushback to own: CEB research behind Challenger found "Relationship Builders" were only about 7% of top performers in complex sales. This belief survives that finding because it is about trust, not rapport.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Integrity lives mostly in the divisor. Lower self-orientation raises trust faster than any of the top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JOLT statistic from Dixon &amp; McKenna, The JOLT Effect (2022), based on analysis of 2.5m+ sales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stage names. Mapping: 1 Trusted Advisor, 2 SPIN/Gap, 3 Challenger, 4 Switch + JOLT, 5 reliability and account growth. MEDDPICC-style qualification runs across all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dropped tips are useful too. They show what the method stands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cover the 51 posts reviewed. Keep and Adapt together give 36 usable posts.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3 posts apply across all stages (Dain Walker 4 Ps, real-estate rules, church staff character). 4 fit a separate "starting well" module for new sellers. 3 are reference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Edwards post kept two ideas: find what is behind the first no, and turn "let me think about it" into a specific concern.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 to consume: about five minutes per lesson. Works for a new seller and for a seasoned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640080" cy="6400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3C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sales methodology built on belief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for 10  -  draft for discussion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Nino Moscardini  | 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are not a method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methodology needs a spine. Three sources, each with a different job.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view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63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selling large, complex deals. Decides what we believe and what we refuse to 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78308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methods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063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Challenger, JOLT, SPIN, Gap Selling, MEDDPICC, Switch, The Trusted Advisor. Tested at scale.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78308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tips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tactics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063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practical moves. Mapped to the structure, tested for integrity, kept or dropped.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belief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buy from people they believe.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 is earned by telling the truth when it costs you.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4023360" cy="2057400"/>
          </a:xfrm>
          <a:prstGeom prst="roundRect">
            <a:avLst>
              <a:gd name="adj" fmla="val 3556"/>
            </a:avLst>
          </a:prstGeom>
          <a:solidFill>
            <a:srgbClr val="284838"/>
          </a:solidFill>
          <a:ln w="12700">
            <a:solidFill>
              <a:srgbClr val="2848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liked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and pleasant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 with the buyer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moves a decision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514600"/>
            <a:ext cx="4023360" cy="2057400"/>
          </a:xfrm>
          <a:prstGeom prst="roundRect">
            <a:avLst>
              <a:gd name="adj" fmla="val 3556"/>
            </a:avLst>
          </a:prstGeom>
          <a:solidFill>
            <a:srgbClr val="2C5242"/>
          </a:solidFill>
          <a:ln w="12700">
            <a:solidFill>
              <a:srgbClr val="2C52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C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believed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401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hard truth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"this isn't right for you"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away from bad deals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trust is made of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Maister, Green &amp; Galford, The Trusted Advisor (2000)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 =  </a:t>
            </a:r>
            <a:pPr algn="ctr" indent="0" marL="0">
              <a:buNone/>
            </a:pPr>
            <a:r>
              <a:rPr lang="en-US" sz="32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 + R + I)</a:t>
            </a:r>
            <a:pPr algn="ctr"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5146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Credibility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649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know what I'm talking about?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0" y="23317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5146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3649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do what I said, when I said?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5146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Intimacy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3649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 to tell me the real problem?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23317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514600"/>
            <a:ext cx="411480" cy="41148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Self-orientation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3649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in this for them, or for me? The divisor. Most sellers fail here.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borrow, and why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the source. Take the principle. Don't reskin it.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44805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take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Dixon &amp; Adamson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 something new, tailor it, take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JOLT Effect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Dixon &amp; McKenna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40-60% of deals die of indecision, not competitors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 / Gap Selling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Rackham / Keenan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Discovery: the problem, and what it costs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MEDDPICC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PTC lineage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 honestly: is this deal real?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 &amp; Dan Heath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Buying is change: rider, elephant, path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Trusted Advisor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Maister et al.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trust is made of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method: five stages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answers the question the buyer is really asking.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517904" cy="2103120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8308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 the right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trust you?"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21408" y="1600200"/>
            <a:ext cx="1517904" cy="2103120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0048" y="178308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0048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23317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gap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212848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understand me?"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85616" y="1600200"/>
            <a:ext cx="1517904" cy="2103120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4256" y="178308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34256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77056" y="23317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877056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am I missing?"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49824" y="1600200"/>
            <a:ext cx="1517904" cy="2103120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78308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98464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23317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change safe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541264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safe to move?"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14032" y="1600200"/>
            <a:ext cx="1517904" cy="2103120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2672" y="178308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62672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23317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your word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29718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you do what you said?"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174736" cy="658368"/>
          </a:xfrm>
          <a:prstGeom prst="roundRect">
            <a:avLst>
              <a:gd name="adj" fmla="val 11111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9319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through every stage:  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honestly. If it isn't right for them, say so and walk away.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stage asks of the seller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Draft. To be filled from real deals.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291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seller's job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 the 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Prepare. Be useful before you sell.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B88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I still do this if no deal came of it?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why before you quote. Cost the problem.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B88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I listening, or waiting to pitch?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an insight they didn't have.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B88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true, even if it doesn't favour me?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change safe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risk. Shrink the first step.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B88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I helping them decide, or pushing?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your 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Deliver. Follow up. Grow the account.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B88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they buy from me again?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integrity test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tactic, including every Instagram tip, has to pass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544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I be happy if the buyer saw exactly what I'm doing, and why?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2128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serve their decision, or only my close?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87121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still look right a year into the relationship?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2C5242"/>
          </a:solidFill>
          <a:ln w="12700">
            <a:solidFill>
              <a:srgbClr val="2C52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30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096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all three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3657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2C5242"/>
          </a:solidFill>
          <a:ln w="12700">
            <a:solidFill>
              <a:srgbClr val="2C52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730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096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idea, wrong framing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657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2C5242"/>
          </a:solidFill>
          <a:ln w="12700">
            <a:solidFill>
              <a:srgbClr val="2C52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730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4096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Manipulation. Name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Instagram tips get 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a corpus, not a checklist.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6002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81328" y="1805940"/>
            <a:ext cx="1188720" cy="0"/>
          </a:xfrm>
          <a:prstGeom prst="line">
            <a:avLst/>
          </a:prstGeom>
          <a:noFill/>
          <a:ln w="19050">
            <a:solidFill>
              <a:srgbClr val="C9D6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48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1460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every saved post, screenshot and note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70048" y="16002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45536" y="1805940"/>
            <a:ext cx="1188720" cy="0"/>
          </a:xfrm>
          <a:prstGeom prst="line">
            <a:avLst/>
          </a:prstGeom>
          <a:noFill/>
          <a:ln w="19050">
            <a:solidFill>
              <a:srgbClr val="C9D6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148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167128" y="251460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mechanism, B2B or B2C, evidence strength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34256" y="16002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34256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9744" y="1805940"/>
            <a:ext cx="1188720" cy="0"/>
          </a:xfrm>
          <a:prstGeom prst="line">
            <a:avLst/>
          </a:prstGeom>
          <a:noFill/>
          <a:ln w="19050">
            <a:solidFill>
              <a:srgbClr val="C9D6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85616" y="2148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31336" y="251460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integrity 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98464" y="16002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98464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3952" y="1805940"/>
            <a:ext cx="1188720" cy="0"/>
          </a:xfrm>
          <a:prstGeom prst="line">
            <a:avLst/>
          </a:prstGeom>
          <a:noFill/>
          <a:ln w="19050">
            <a:solidFill>
              <a:srgbClr val="C9D6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9824" y="2148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95544" y="251460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duplicates into one principle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62672" y="16002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62672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148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59752" y="251460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into a stage as a practical move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8174736" cy="914400"/>
          </a:xfrm>
          <a:prstGeom prst="roundRect">
            <a:avLst>
              <a:gd name="adj" fmla="val 8000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611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pass done:  </a:t>
            </a:r>
            <a:pPr indent="0" marL="0">
              <a:buNone/>
            </a:pP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posts reviewed (all 29 SALES, plus 22 from MARKETING and SELF that touch selling). Full catalogue saved alongside this deck.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collection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posts through the integrity test.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361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5361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5361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0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4630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5361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E6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topic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01752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posts are repackaged research.  </a:t>
            </a:r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Rackham, Dixon, Gong, Sinek, Ziglar. Instagram confirms the spine more than it adds to 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56616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 source.  </a:t>
            </a:r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the 51 come from two accounts recruiting "remote closers". Their lens is the one-call, high-ticket close.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11480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folders need a tidy.  </a:t>
            </a:r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Airfare, stock and job-search posts are filed under SALES.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tips land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posts (Keep + Adapt) mapped to the five stages.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4173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 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Duffy writes the buyer's questions before the meeting.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20391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(CIA): "I'd rather have a true no than a polite maybe."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26609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Challenger: lead with an insight, reframe the cost.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32826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 safe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JOLT: name the fear, put the safety net in writing.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39044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0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Thin. Only two posts: church follow-up and car sales.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failed the integrity test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rejects show what the method stands against.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2C5242"/>
          </a:solidFill>
          <a:ln w="12700">
            <a:solidFill>
              <a:srgbClr val="2C5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Stratton Oakmont call scripts. The firm was shut down for securities fraud.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Room "conviction" phrases. The film is about a fraudulent brokerage.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closes: tie-down, alternate of choice, assumptive, sharp angle.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 II "power lessons". About domination, not selling.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2C5242"/>
          </a:solidFill>
          <a:ln w="12700">
            <a:solidFill>
              <a:srgbClr val="2C52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the post, cut the line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5740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"How've you been?" cold opener. Fakes a relationship that isn't there.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scarcity and crossed-out anchor prices.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words that hit the ego and fear at the same time."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them think they won, then take the outcome."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collection argues with itself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fights the method has to settle.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4612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hard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Edwards: stack small yeses, assume the sale.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57276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less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Rackham, 35,000 calls: closing techniques help small sales and hurt big ones.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57276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call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side with Rackham. Big deals move when the risk feels small.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303580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035808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45536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liked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"People buy from people." Rapport as the foundation.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145536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useful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Challenger: the friendly rep came last. Insight wins.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145536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call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half right. Trust is earned by truth, not warmth.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Instagram can't teach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 is built for one call with one buyer. Big deals are neither.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groups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38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people, many agendas, one decision.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campaigns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38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Years, not calls. Only Leahy (Airbus) touches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938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Negotiating with people paid to say no.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sponsors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1729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the right to the top table.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6974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1729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with and through vendors.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6974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signature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1729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Delivering, growing, renewing.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174736" cy="594360"/>
          </a:xfrm>
          <a:prstGeom prst="roundRect">
            <a:avLst>
              <a:gd name="adj" fmla="val 12308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your deal stories carry the method.  </a:t>
            </a:r>
            <a:pPr indent="0" marL="0">
              <a:buNone/>
            </a:pPr>
            <a:r>
              <a:rPr lang="en-US" sz="13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tips cover tactics. Your experience covers the rest.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field: the lesson format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deal stories carry the method. One story, one principle, one action.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174736" cy="914400"/>
          </a:xfrm>
          <a:prstGeom prst="roundRect">
            <a:avLst>
              <a:gd name="adj" fmla="val 8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727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15727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deal. What happened, what was at stake, what you did.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story here]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174736" cy="914400"/>
          </a:xfrm>
          <a:prstGeom prst="roundRect">
            <a:avLst>
              <a:gd name="adj" fmla="val 8000"/>
            </a:avLst>
          </a:prstGeom>
          <a:solidFill>
            <a:srgbClr val="F6EEDD"/>
          </a:solidFill>
          <a:ln w="12700">
            <a:solidFill>
              <a:srgbClr val="F6EE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761488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243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principle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26243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it teaches. Linked to a stage.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624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[Stage + principle]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174736" cy="914400"/>
          </a:xfrm>
          <a:prstGeom prst="roundRect">
            <a:avLst>
              <a:gd name="adj" fmla="val 8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813048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6758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this week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337560" y="36758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concrete action a seller can take on Monday.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67588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action]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|  starter for 10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24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the drop list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898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Keep / Adapt / Drop calls in the catalogue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105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ten deal stories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0756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to the gaps: buying groups, campaigns, procurement, after the signature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4963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Pressure-test the five stages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614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match how your big deals actually ran?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1821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4472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"Trusted" is a placeholder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rgbClr val="B8862F"/>
          </a:solidFill>
          <a:ln w="12700">
            <a:solidFill>
              <a:srgbClr val="B886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8679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with a first reader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1330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seller, in a live sales job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Trusted - a sales methodology (starter for 10)</dc:title>
  <dc:subject>PptxGenJS Presentation</dc:subject>
  <dc:creator>PptxGenJS</dc:creator>
  <cp:lastModifiedBy>PptxGenJS</cp:lastModifiedBy>
  <cp:revision>1</cp:revision>
  <dcterms:created xsi:type="dcterms:W3CDTF">2026-09-25T17:07:01Z</dcterms:created>
  <dcterms:modified xsi:type="dcterms:W3CDTF">2026-09-25T17:07:01Z</dcterms:modified>
</cp:coreProperties>
</file>